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eddhafer\Documents\UiPath\MonthlySalesGenerationBot\Data\Sales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465667915106117"/>
          <c:w val="1"/>
          <c:h val="0.729137462686078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Chart!$B$1</c:f>
              <c:strCache>
                <c:ptCount val="1"/>
                <c:pt idx="0">
                  <c:v>Revenue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Chart!$B$2:$B$5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100000</c:v>
                </c:pt>
                <c:pt idx="2">
                  <c:v>100000</c:v>
                </c:pt>
                <c:pt idx="3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1-4FC8-AD5A-D4FFB6106C7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001796815"/>
        <c:axId val="1001803055"/>
      </c:barChart>
      <c:catAx>
        <c:axId val="100179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01803055"/>
        <c:crosses val="autoZero"/>
        <c:auto val="1"/>
        <c:lblAlgn val="ctr"/>
        <c:lblOffset val="100"/>
        <c:noMultiLvlLbl val="0"/>
      </c:catAx>
      <c:valAx>
        <c:axId val="1001803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01796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8CFBC-9403-47F7-BDB1-615BBE0E64EF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53230-7C5F-45A7-B966-85CDD7F6B5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66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53230-7C5F-45A7-B966-85CDD7F6B53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73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AB3797-F43C-B9A0-90CD-800A89B81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F28213-623D-021F-7006-D9C000CAB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0F628F-887B-AE39-C121-DADBE13B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BC7B6F-2547-D46F-9CA3-DDADCACC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4CA734-06EA-3E60-E90B-1165867A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21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98EB9-B9EC-B883-A29F-6B2CF3C0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3F3414-AE5B-EBDF-4D57-0000519B6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93F354-20F7-95A6-6EDF-A8F21039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B1936B-2F9A-7A11-2D10-D31785B84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D21B95-3ABB-5A23-C08B-7B7A8986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0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13A7B-2615-424C-1711-93F8CEB9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96EE48-02CB-5141-AEF6-E168115B2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D62201-8CC0-561A-F4B7-1DE8CA11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DC3FD5-371D-FE52-D310-63D539BE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ED738F-13C7-5811-B22D-7D98F8C5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64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D2CCE-AF0D-182C-4707-B497F15F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47A183-7750-0961-039F-80C8BCEC8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630CF4-CF9B-6B6F-3B9E-34DB450DD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470D94-8873-5F1E-6173-79194BA7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CA895F-4868-88C7-CD79-A112F154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5499F1-2D99-C54F-7A26-3A87AC4A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32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860FA-50D8-94D6-379B-F19E0981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B66CC5-1DC7-A8C1-B355-F13B46C3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606025-FFBD-19E6-978E-387DC4C9C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5F9E3D-15A1-02F2-6FE4-926D898D5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5CF89B-A5BC-F421-C4BF-9CC71B6A6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E82F26-CFA9-F951-E925-C9C1C9071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B24803-3C0E-270D-4EB7-D28C249E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3A350B-222F-2FFB-9039-73885F4F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61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729B6-ED01-CD41-B5F6-54797EC21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86FFDAA-BF47-B98D-3050-FA629ABF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E16898-BE8B-0DDB-94DE-8990949A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4FC08C-FE73-B3D9-21FF-4499F101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42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B8C5F0-2C8C-3309-74C0-8878D064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D480824-1384-C0A4-6590-35CF1E4A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2C6E80-77B5-29CC-D4D5-9677E815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21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7FEDA-B5DF-ED74-EE72-B529CB902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F93B6-D733-6FCF-66EA-0EA2F6B6C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4E3C41-5EF4-C8CF-6DE7-DA30244E5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72F9C4-C5E7-2CB4-500E-818B4665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6D9A61-9393-C63E-8BC2-41491318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2CD931-B310-5D16-A4E6-3FA2DE4C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94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27F79-18FB-404A-7216-8E637A62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68AF791-E7F1-92A5-1C47-18C817D10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01605C-41E6-3868-A5C6-C4B7DB985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98DC5C-FF88-5073-F5F6-D0EF3C616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CC98DA-5DC1-C9AB-F973-0F43ED97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DB5FC3-D805-4621-A7B7-97378B73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49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54942-61EA-E19A-3F24-0457FCC8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D45FDC-70CD-7A2B-E813-11A89EE1F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F2A878-34CD-F06B-4C3A-32A71E4D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8ED7B9-BE85-520E-C5AD-D7916581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4F2EA3-9E5E-3338-D075-096C323E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295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AD78974-D2B5-0490-401D-CC3D9AD09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D99574-E757-6AD6-BEAA-A438FDD14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0DF099-6425-7078-273B-8CCFA197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9324A8-0293-4F22-175C-BC73743A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EAE634-7A31-EEAA-A5F9-236272D3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20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54E2BEB-512C-10BE-F967-3C171142D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2C2691-F75B-E792-4007-870393F5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28AE15-E976-9E44-45C7-2679F285C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DEF33-D240-4646-A43F-2AAEE851BDEE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574D5E-19BF-B8E4-0E15-8E8EBD771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BA381C-EB3F-24AD-460D-9F5AACF03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DFF50-2DAF-4BFD-9377-17B46B29E6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86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PI_Snap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AF98A7E9-DF4A-06ED-076E-2947F81D428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HeaderBand">
            <a:extLst>
              <a:ext uri="{FF2B5EF4-FFF2-40B4-BE49-F238E27FC236}">
                <a16:creationId xmlns:a16="http://schemas.microsoft.com/office/drawing/2014/main" id="{B409C656-7F20-7682-7780-9AF781C41996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SlideTitle">
            <a:extLst>
              <a:ext uri="{FF2B5EF4-FFF2-40B4-BE49-F238E27FC236}">
                <a16:creationId xmlns:a16="http://schemas.microsoft.com/office/drawing/2014/main" id="{81C0E9A3-6D99-6DB1-C99D-7A3794EA217D}"/>
              </a:ext>
            </a:extLst>
          </p:cNvPr>
          <p:cNvSpPr txBox="1"/>
          <p:nvPr/>
        </p:nvSpPr>
        <p:spPr>
          <a:xfrm>
            <a:off x="254000" y="152400"/>
            <a:ext cx="863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2600" b="1">
                <a:solidFill>
                  <a:srgbClr val="FFFFFF"/>
                </a:solidFill>
              </a:rPr>
              <a:t>KPI Report – Apr-26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1A65F9F1-1C6A-716D-80B8-20E7EBFDD6C6}"/>
              </a:ext>
            </a:extLst>
          </p:cNvPr>
          <p:cNvSpPr txBox="1"/>
          <p:nvPr/>
        </p:nvSpPr>
        <p:spPr>
          <a:xfrm>
            <a:off x="254000" y="762000"/>
            <a:ext cx="863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>
                <a:solidFill>
                  <a:srgbClr val="C8DCFF"/>
                </a:solidFill>
              </a:rPr>
              <a:t>Executive KPI Snapshot  |  Automated Report</a:t>
            </a:r>
            <a:endParaRPr lang="fr-FR" sz="1000">
              <a:solidFill>
                <a:srgbClr val="C8DCFF"/>
              </a:solidFill>
            </a:endParaRPr>
          </a:p>
        </p:txBody>
      </p:sp>
      <p:sp>
        <p:nvSpPr>
          <p:cNvPr id="6" name="SectionLabel">
            <a:extLst>
              <a:ext uri="{FF2B5EF4-FFF2-40B4-BE49-F238E27FC236}">
                <a16:creationId xmlns:a16="http://schemas.microsoft.com/office/drawing/2014/main" id="{2493EA68-3B21-29C2-61AD-B9DA7EFB6BFF}"/>
              </a:ext>
            </a:extLst>
          </p:cNvPr>
          <p:cNvSpPr txBox="1"/>
          <p:nvPr/>
        </p:nvSpPr>
        <p:spPr>
          <a:xfrm>
            <a:off x="508000" y="1270000"/>
            <a:ext cx="508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 b="1">
                <a:solidFill>
                  <a:srgbClr val="A4C4F0"/>
                </a:solidFill>
              </a:rPr>
              <a:t>KEY PERFORMANCE INDICATORS</a:t>
            </a:r>
          </a:p>
        </p:txBody>
      </p:sp>
      <p:sp>
        <p:nvSpPr>
          <p:cNvPr id="7" name="KPI_TotalRevenue_Box">
            <a:extLst>
              <a:ext uri="{FF2B5EF4-FFF2-40B4-BE49-F238E27FC236}">
                <a16:creationId xmlns:a16="http://schemas.microsoft.com/office/drawing/2014/main" id="{98653B19-9C69-91E4-BE02-08AF383AEA89}"/>
              </a:ext>
            </a:extLst>
          </p:cNvPr>
          <p:cNvSpPr/>
          <p:nvPr/>
        </p:nvSpPr>
        <p:spPr>
          <a:xfrm>
            <a:off x="508000" y="17145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KPI_TotalRevenue_Accent">
            <a:extLst>
              <a:ext uri="{FF2B5EF4-FFF2-40B4-BE49-F238E27FC236}">
                <a16:creationId xmlns:a16="http://schemas.microsoft.com/office/drawing/2014/main" id="{E77F0805-1F79-0E10-6AEC-B3F4842F1B24}"/>
              </a:ext>
            </a:extLst>
          </p:cNvPr>
          <p:cNvSpPr/>
          <p:nvPr/>
        </p:nvSpPr>
        <p:spPr>
          <a:xfrm>
            <a:off x="508000" y="17145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KPI_TotalRevenue_Label">
            <a:extLst>
              <a:ext uri="{FF2B5EF4-FFF2-40B4-BE49-F238E27FC236}">
                <a16:creationId xmlns:a16="http://schemas.microsoft.com/office/drawing/2014/main" id="{DA3D3517-26E0-5F2C-6F4D-DAC134C3FC8B}"/>
              </a:ext>
            </a:extLst>
          </p:cNvPr>
          <p:cNvSpPr txBox="1"/>
          <p:nvPr/>
        </p:nvSpPr>
        <p:spPr>
          <a:xfrm>
            <a:off x="635000" y="18669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TOTAL REVENUE</a:t>
            </a:r>
          </a:p>
        </p:txBody>
      </p:sp>
      <p:sp>
        <p:nvSpPr>
          <p:cNvPr id="10" name="KPI_TotalRevenue_Value">
            <a:extLst>
              <a:ext uri="{FF2B5EF4-FFF2-40B4-BE49-F238E27FC236}">
                <a16:creationId xmlns:a16="http://schemas.microsoft.com/office/drawing/2014/main" id="{90EF35FD-B81F-867B-037A-B465E37CE0FF}"/>
              </a:ext>
            </a:extLst>
          </p:cNvPr>
          <p:cNvSpPr txBox="1"/>
          <p:nvPr/>
        </p:nvSpPr>
        <p:spPr>
          <a:xfrm>
            <a:off x="635000" y="21971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$925,000</a:t>
            </a:r>
          </a:p>
        </p:txBody>
      </p:sp>
      <p:sp>
        <p:nvSpPr>
          <p:cNvPr id="11" name="KPI_Achievement_Box">
            <a:extLst>
              <a:ext uri="{FF2B5EF4-FFF2-40B4-BE49-F238E27FC236}">
                <a16:creationId xmlns:a16="http://schemas.microsoft.com/office/drawing/2014/main" id="{5F25C791-15BF-6946-9C37-5C68AF197806}"/>
              </a:ext>
            </a:extLst>
          </p:cNvPr>
          <p:cNvSpPr/>
          <p:nvPr/>
        </p:nvSpPr>
        <p:spPr>
          <a:xfrm>
            <a:off x="4572000" y="17145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KPI_Achievement_Accent">
            <a:extLst>
              <a:ext uri="{FF2B5EF4-FFF2-40B4-BE49-F238E27FC236}">
                <a16:creationId xmlns:a16="http://schemas.microsoft.com/office/drawing/2014/main" id="{11554852-5EAF-41E6-3AB3-61D0F99161E9}"/>
              </a:ext>
            </a:extLst>
          </p:cNvPr>
          <p:cNvSpPr/>
          <p:nvPr/>
        </p:nvSpPr>
        <p:spPr>
          <a:xfrm>
            <a:off x="4572000" y="17145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KPI_Achievement_Label">
            <a:extLst>
              <a:ext uri="{FF2B5EF4-FFF2-40B4-BE49-F238E27FC236}">
                <a16:creationId xmlns:a16="http://schemas.microsoft.com/office/drawing/2014/main" id="{D3C1DAA8-381F-DFE6-91EE-3C7F32B4AD14}"/>
              </a:ext>
            </a:extLst>
          </p:cNvPr>
          <p:cNvSpPr txBox="1"/>
          <p:nvPr/>
        </p:nvSpPr>
        <p:spPr>
          <a:xfrm>
            <a:off x="4699000" y="18669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ACHIEVEMENT %</a:t>
            </a:r>
          </a:p>
        </p:txBody>
      </p:sp>
      <p:sp>
        <p:nvSpPr>
          <p:cNvPr id="14" name="KPI_Achievement_Value">
            <a:extLst>
              <a:ext uri="{FF2B5EF4-FFF2-40B4-BE49-F238E27FC236}">
                <a16:creationId xmlns:a16="http://schemas.microsoft.com/office/drawing/2014/main" id="{094A9609-2D21-E694-1DF0-4F4DE10259A6}"/>
              </a:ext>
            </a:extLst>
          </p:cNvPr>
          <p:cNvSpPr txBox="1"/>
          <p:nvPr/>
        </p:nvSpPr>
        <p:spPr>
          <a:xfrm>
            <a:off x="4699000" y="21971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✅ 93.2%</a:t>
            </a:r>
          </a:p>
        </p:txBody>
      </p:sp>
      <p:sp>
        <p:nvSpPr>
          <p:cNvPr id="15" name="KPI_TopProduct_Box">
            <a:extLst>
              <a:ext uri="{FF2B5EF4-FFF2-40B4-BE49-F238E27FC236}">
                <a16:creationId xmlns:a16="http://schemas.microsoft.com/office/drawing/2014/main" id="{9881C35C-DE0A-57F4-CE0B-A98A5D1BA051}"/>
              </a:ext>
            </a:extLst>
          </p:cNvPr>
          <p:cNvSpPr/>
          <p:nvPr/>
        </p:nvSpPr>
        <p:spPr>
          <a:xfrm>
            <a:off x="508000" y="39370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KPI_TopProduct_Accent">
            <a:extLst>
              <a:ext uri="{FF2B5EF4-FFF2-40B4-BE49-F238E27FC236}">
                <a16:creationId xmlns:a16="http://schemas.microsoft.com/office/drawing/2014/main" id="{B0D00031-5802-8F85-EEAC-81A7FB48AA59}"/>
              </a:ext>
            </a:extLst>
          </p:cNvPr>
          <p:cNvSpPr/>
          <p:nvPr/>
        </p:nvSpPr>
        <p:spPr>
          <a:xfrm>
            <a:off x="508000" y="39370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KPI_TopProduct_Label">
            <a:extLst>
              <a:ext uri="{FF2B5EF4-FFF2-40B4-BE49-F238E27FC236}">
                <a16:creationId xmlns:a16="http://schemas.microsoft.com/office/drawing/2014/main" id="{DE38D44E-5BC2-562A-4352-70E1345DAD50}"/>
              </a:ext>
            </a:extLst>
          </p:cNvPr>
          <p:cNvSpPr txBox="1"/>
          <p:nvPr/>
        </p:nvSpPr>
        <p:spPr>
          <a:xfrm>
            <a:off x="635000" y="40894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TOP PRODUCT</a:t>
            </a:r>
          </a:p>
        </p:txBody>
      </p:sp>
      <p:sp>
        <p:nvSpPr>
          <p:cNvPr id="18" name="KPI_TopProduct_Value">
            <a:extLst>
              <a:ext uri="{FF2B5EF4-FFF2-40B4-BE49-F238E27FC236}">
                <a16:creationId xmlns:a16="http://schemas.microsoft.com/office/drawing/2014/main" id="{77C620D4-194A-6E6A-1BE4-0CF0B8903B1E}"/>
              </a:ext>
            </a:extLst>
          </p:cNvPr>
          <p:cNvSpPr txBox="1"/>
          <p:nvPr/>
        </p:nvSpPr>
        <p:spPr>
          <a:xfrm>
            <a:off x="635000" y="44196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Alpha Pro</a:t>
            </a:r>
          </a:p>
        </p:txBody>
      </p:sp>
      <p:sp>
        <p:nvSpPr>
          <p:cNvPr id="19" name="KPI_WorstRegion_Box">
            <a:extLst>
              <a:ext uri="{FF2B5EF4-FFF2-40B4-BE49-F238E27FC236}">
                <a16:creationId xmlns:a16="http://schemas.microsoft.com/office/drawing/2014/main" id="{D164A6B4-987C-37DD-390D-CE81F01CFBD0}"/>
              </a:ext>
            </a:extLst>
          </p:cNvPr>
          <p:cNvSpPr/>
          <p:nvPr/>
        </p:nvSpPr>
        <p:spPr>
          <a:xfrm>
            <a:off x="4572000" y="3937000"/>
            <a:ext cx="3683000" cy="19685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KPI_WorstRegion_Accent">
            <a:extLst>
              <a:ext uri="{FF2B5EF4-FFF2-40B4-BE49-F238E27FC236}">
                <a16:creationId xmlns:a16="http://schemas.microsoft.com/office/drawing/2014/main" id="{C21DA64F-1351-7B38-7A48-8EC3E9CB2CA6}"/>
              </a:ext>
            </a:extLst>
          </p:cNvPr>
          <p:cNvSpPr/>
          <p:nvPr/>
        </p:nvSpPr>
        <p:spPr>
          <a:xfrm>
            <a:off x="4572000" y="3937000"/>
            <a:ext cx="3683000" cy="762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KPI_WorstRegion_Label">
            <a:extLst>
              <a:ext uri="{FF2B5EF4-FFF2-40B4-BE49-F238E27FC236}">
                <a16:creationId xmlns:a16="http://schemas.microsoft.com/office/drawing/2014/main" id="{82A08236-D381-8809-9F44-2F7AFA3BEA98}"/>
              </a:ext>
            </a:extLst>
          </p:cNvPr>
          <p:cNvSpPr txBox="1"/>
          <p:nvPr/>
        </p:nvSpPr>
        <p:spPr>
          <a:xfrm>
            <a:off x="4699000" y="4089400"/>
            <a:ext cx="342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6A6A6"/>
                </a:solidFill>
              </a:rPr>
              <a:t>WORST REGION</a:t>
            </a:r>
          </a:p>
        </p:txBody>
      </p:sp>
      <p:sp>
        <p:nvSpPr>
          <p:cNvPr id="22" name="KPI_WorstRegion_Value">
            <a:extLst>
              <a:ext uri="{FF2B5EF4-FFF2-40B4-BE49-F238E27FC236}">
                <a16:creationId xmlns:a16="http://schemas.microsoft.com/office/drawing/2014/main" id="{A52F6952-FC8D-460D-55DA-6D89B21EE07A}"/>
              </a:ext>
            </a:extLst>
          </p:cNvPr>
          <p:cNvSpPr txBox="1"/>
          <p:nvPr/>
        </p:nvSpPr>
        <p:spPr>
          <a:xfrm>
            <a:off x="4699000" y="4419600"/>
            <a:ext cx="342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000" b="1">
                <a:solidFill>
                  <a:srgbClr val="1F3864"/>
                </a:solidFill>
              </a:rPr>
              <a:t>South</a:t>
            </a:r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16AD615F-BC9C-C3D8-C0B4-8566E908383A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14285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AB2E5A2-73A3-EBDE-CE3F-E09AE6C08B7E}"/>
              </a:ext>
            </a:extLst>
          </p:cNvPr>
          <p:cNvSpPr txBox="1"/>
          <p:nvPr/>
        </p:nvSpPr>
        <p:spPr>
          <a:xfrm>
            <a:off x="254000" y="6527800"/>
            <a:ext cx="863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dirty="0">
                <a:solidFill>
                  <a:srgbClr val="96AAD2"/>
                </a:solidFill>
              </a:rPr>
              <a:t>CONFIDENTIAL  |  Auto-generated by UiPath KPI Bot </a:t>
            </a:r>
            <a:endParaRPr lang="fr-FR" sz="800" dirty="0">
              <a:solidFill>
                <a:srgbClr val="96AA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643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erformance_Break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9CEE9EF-A455-E29A-DDA4-7AF735AA49D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HeaderBand">
            <a:extLst>
              <a:ext uri="{FF2B5EF4-FFF2-40B4-BE49-F238E27FC236}">
                <a16:creationId xmlns:a16="http://schemas.microsoft.com/office/drawing/2014/main" id="{5B9ED3E8-9031-6779-832C-EC969E2EF824}"/>
              </a:ext>
            </a:extLst>
          </p:cNvPr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SlideTitle">
            <a:extLst>
              <a:ext uri="{FF2B5EF4-FFF2-40B4-BE49-F238E27FC236}">
                <a16:creationId xmlns:a16="http://schemas.microsoft.com/office/drawing/2014/main" id="{A03F64CE-66E9-DCC1-2BF3-8D71786B7BE1}"/>
              </a:ext>
            </a:extLst>
          </p:cNvPr>
          <p:cNvSpPr txBox="1"/>
          <p:nvPr/>
        </p:nvSpPr>
        <p:spPr>
          <a:xfrm>
            <a:off x="254000" y="152400"/>
            <a:ext cx="863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2600" b="1">
                <a:solidFill>
                  <a:srgbClr val="FFFFFF"/>
                </a:solidFill>
              </a:rPr>
              <a:t>Insights – Apr-26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77BC2C-B76A-BD04-5F6D-452103F1AC22}"/>
              </a:ext>
            </a:extLst>
          </p:cNvPr>
          <p:cNvSpPr txBox="1"/>
          <p:nvPr/>
        </p:nvSpPr>
        <p:spPr>
          <a:xfrm>
            <a:off x="254000" y="762000"/>
            <a:ext cx="863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>
                <a:solidFill>
                  <a:srgbClr val="C8DCFF"/>
                </a:solidFill>
              </a:rPr>
              <a:t>Revenue vs Target by Product  |  Key Insights</a:t>
            </a:r>
            <a:endParaRPr lang="fr-FR" sz="1000">
              <a:solidFill>
                <a:srgbClr val="C8DCFF"/>
              </a:solidFill>
            </a:endParaRPr>
          </a:p>
        </p:txBody>
      </p:sp>
      <p:sp>
        <p:nvSpPr>
          <p:cNvPr id="6" name="ChartSectionLabel">
            <a:extLst>
              <a:ext uri="{FF2B5EF4-FFF2-40B4-BE49-F238E27FC236}">
                <a16:creationId xmlns:a16="http://schemas.microsoft.com/office/drawing/2014/main" id="{F009C33F-92F8-1E7E-5F2C-979A91FF46C9}"/>
              </a:ext>
            </a:extLst>
          </p:cNvPr>
          <p:cNvSpPr txBox="1"/>
          <p:nvPr/>
        </p:nvSpPr>
        <p:spPr>
          <a:xfrm>
            <a:off x="381000" y="1270000"/>
            <a:ext cx="4953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4C4F0"/>
                </a:solidFill>
              </a:rPr>
              <a:t>REVENUE BY PRODUCT</a:t>
            </a:r>
          </a:p>
        </p:txBody>
      </p:sp>
      <p:sp>
        <p:nvSpPr>
          <p:cNvPr id="7" name="ChartPlaceholder">
            <a:extLst>
              <a:ext uri="{FF2B5EF4-FFF2-40B4-BE49-F238E27FC236}">
                <a16:creationId xmlns:a16="http://schemas.microsoft.com/office/drawing/2014/main" id="{4BB063A0-6A91-1B31-B5CB-5538432538AC}"/>
              </a:ext>
            </a:extLst>
          </p:cNvPr>
          <p:cNvSpPr/>
          <p:nvPr/>
        </p:nvSpPr>
        <p:spPr>
          <a:xfrm>
            <a:off x="381000" y="1549400"/>
            <a:ext cx="5080000" cy="454660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InsightSectionLabel">
            <a:extLst>
              <a:ext uri="{FF2B5EF4-FFF2-40B4-BE49-F238E27FC236}">
                <a16:creationId xmlns:a16="http://schemas.microsoft.com/office/drawing/2014/main" id="{35BC0722-B473-BD58-9AEE-E8B933FB4838}"/>
              </a:ext>
            </a:extLst>
          </p:cNvPr>
          <p:cNvSpPr txBox="1"/>
          <p:nvPr/>
        </p:nvSpPr>
        <p:spPr>
          <a:xfrm>
            <a:off x="5689600" y="1270000"/>
            <a:ext cx="3200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 b="1">
                <a:solidFill>
                  <a:srgbClr val="A4C4F0"/>
                </a:solidFill>
              </a:rPr>
              <a:t>KEY INSIGHTS</a:t>
            </a:r>
          </a:p>
        </p:txBody>
      </p:sp>
      <p:sp>
        <p:nvSpPr>
          <p:cNvPr id="10" name="InsightBox_Background">
            <a:extLst>
              <a:ext uri="{FF2B5EF4-FFF2-40B4-BE49-F238E27FC236}">
                <a16:creationId xmlns:a16="http://schemas.microsoft.com/office/drawing/2014/main" id="{D704D174-1478-C885-0397-F01FCD34DD8C}"/>
              </a:ext>
            </a:extLst>
          </p:cNvPr>
          <p:cNvSpPr/>
          <p:nvPr/>
        </p:nvSpPr>
        <p:spPr>
          <a:xfrm>
            <a:off x="5689600" y="1549399"/>
            <a:ext cx="3200400" cy="4546599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InsightBox">
            <a:extLst>
              <a:ext uri="{FF2B5EF4-FFF2-40B4-BE49-F238E27FC236}">
                <a16:creationId xmlns:a16="http://schemas.microsoft.com/office/drawing/2014/main" id="{EFB5AEA8-CD2C-A5F0-6C63-DDED6A179742}"/>
              </a:ext>
            </a:extLst>
          </p:cNvPr>
          <p:cNvSpPr txBox="1"/>
          <p:nvPr/>
        </p:nvSpPr>
        <p:spPr>
          <a:xfrm>
            <a:off x="5816600" y="1676400"/>
            <a:ext cx="29464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F3864"/>
                </a:solidFill>
              </a:rPr>
              <a:t>• Alpha Pro is the top-performing product.</a:t>
            </a:r>
          </a:p>
          <a:p>
            <a:r>
              <a:rPr lang="en-US" sz="1200">
                <a:solidFill>
                  <a:srgbClr val="1F3864"/>
                </a:solidFill>
              </a:rPr>
              <a:t>• Beta Suite is underperforming compared to its target.</a:t>
            </a:r>
          </a:p>
          <a:p>
            <a:r>
              <a:rPr lang="en-US" sz="1200">
                <a:solidFill>
                  <a:srgbClr val="1F3864"/>
                </a:solidFill>
              </a:rPr>
              <a:t>• South is the lowest performing region and requires attention.</a:t>
            </a:r>
            <a:endParaRPr lang="fr-FR" sz="1200">
              <a:solidFill>
                <a:srgbClr val="1F3864"/>
              </a:solidFill>
            </a:endParaRP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813452FD-575D-FB33-7F39-107042EBA527}"/>
              </a:ext>
            </a:extLst>
          </p:cNvPr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14285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EBAA078-3FF1-3168-6DBB-33591768A946}"/>
              </a:ext>
            </a:extLst>
          </p:cNvPr>
          <p:cNvSpPr txBox="1"/>
          <p:nvPr/>
        </p:nvSpPr>
        <p:spPr>
          <a:xfrm>
            <a:off x="254000" y="6527800"/>
            <a:ext cx="863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 dirty="0">
                <a:solidFill>
                  <a:srgbClr val="96AAD2"/>
                </a:solidFill>
              </a:rPr>
              <a:t>CONFIDENTIAL  |  Auto-generated by UiPath KPI Bot </a:t>
            </a:r>
            <a:endParaRPr lang="fr-FR" sz="800" dirty="0">
              <a:solidFill>
                <a:srgbClr val="96AAD2"/>
              </a:solidFill>
            </a:endParaRPr>
          </a:p>
        </p:txBody>
      </p:sp>
      <p:graphicFrame>
        <p:nvGraphicFramePr>
          <p:cNvPr id="8" name="BarChart_Revenue">
            <a:extLst>
              <a:ext uri="{FF2B5EF4-FFF2-40B4-BE49-F238E27FC236}">
                <a16:creationId xmlns:a16="http://schemas.microsoft.com/office/drawing/2014/main" id="{5424C782-AB7D-F2C9-9FBF-ADA4979448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285017"/>
              </p:ext>
            </p:extLst>
          </p:nvPr>
        </p:nvGraphicFramePr>
        <p:xfrm>
          <a:off x="381000" y="1549399"/>
          <a:ext cx="5080000" cy="4546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155025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89</Words>
  <Application>Microsoft Office PowerPoint</Application>
  <PresentationFormat>Grand écran</PresentationFormat>
  <Paragraphs>21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Dhafer Hadj Amor</dc:creator>
  <cp:lastModifiedBy>Mohamed Dhafer Hadj Amor</cp:lastModifiedBy>
  <cp:revision>23</cp:revision>
  <dcterms:created xsi:type="dcterms:W3CDTF">2026-04-14T01:26:06Z</dcterms:created>
  <dcterms:modified xsi:type="dcterms:W3CDTF">2026-06-25T07:15:58Z</dcterms:modified>
</cp:coreProperties>
</file>