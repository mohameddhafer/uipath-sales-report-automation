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"/>
  </p:notesMasterIdLst>
  <p:sldIdLst>
    <p:sldId id="256" r:id="rId2"/>
    <p:sldId id="257" r:id="rId3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50" autoAdjust="0"/>
    <p:restoredTop sz="94641" autoAdjust="0"/>
  </p:normalViewPr>
  <p:slideViewPr>
    <p:cSldViewPr snapToGrid="0">
      <p:cViewPr varScale="1">
        <p:scale>
          <a:sx n="74" d="100"/>
          <a:sy n="74" d="100"/>
        </p:scale>
        <p:origin x="1008" y="67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62" d="100"/>
          <a:sy n="62" d="100"/>
        </p:scale>
        <p:origin x="3226" y="77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meddhafer\Documents\UiPath\MonthlySalesGenerationBot\Data\SalesData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fr-F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b="0" i="0" u="none" strike="noStrike" kern="1200" baseline="0">
                <a:solidFill>
                  <a:schemeClr val="dk1">
                    <a:lumMod val="65000"/>
                    <a:lumOff val="35000"/>
                  </a:schemeClr>
                </a:solidFill>
                <a:effectLst/>
                <a:latin typeface="+mn-lt"/>
                <a:ea typeface="+mn-ea"/>
                <a:cs typeface="+mn-cs"/>
              </a:defRPr>
            </a:pPr>
            <a:endParaRPr lang="fr-FR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b="0" i="0" u="none" strike="noStrike" kern="1200" baseline="0">
              <a:solidFill>
                <a:schemeClr val="dk1">
                  <a:lumMod val="65000"/>
                  <a:lumOff val="35000"/>
                </a:schemeClr>
              </a:solidFill>
              <a:effectLst/>
              <a:latin typeface="+mn-lt"/>
              <a:ea typeface="+mn-ea"/>
              <a:cs typeface="+mn-cs"/>
            </a:defRPr>
          </a:pPr>
          <a:endParaRPr lang="fr-FR"/>
        </a:p>
      </c:txPr>
    </c:title>
    <c:autoTitleDeleted val="0"/>
    <c:plotArea>
      <c:layout>
        <c:manualLayout>
          <c:layoutTarget val="inner"/>
          <c:xMode val="edge"/>
          <c:yMode val="edge"/>
          <c:x val="0"/>
          <c:y val="0.17465667915106117"/>
          <c:w val="1"/>
          <c:h val="0.72913746268607815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Chart!$B$1</c:f>
              <c:strCache>
                <c:ptCount val="1"/>
                <c:pt idx="0">
                  <c:v>Revenue</c:v>
                </c:pt>
              </c:strCache>
            </c:strRef>
          </c:tx>
          <c:spPr>
            <a:gradFill>
              <a:gsLst>
                <a:gs pos="0">
                  <a:schemeClr val="accent1"/>
                </a:gs>
                <a:gs pos="100000">
                  <a:schemeClr val="accent1">
                    <a:lumMod val="84000"/>
                  </a:schemeClr>
                </a:gs>
              </a:gsLst>
              <a:lin ang="5400000" scaled="1"/>
            </a:gradFill>
            <a:ln>
              <a:noFill/>
            </a:ln>
            <a:effectLst>
              <a:outerShdw blurRad="76200" dir="18900000" sy="23000" kx="-1200000" algn="bl" rotWithShape="0">
                <a:prstClr val="black">
                  <a:alpha val="20000"/>
                </a:prstClr>
              </a:outerShdw>
            </a:effectLst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000" b="1" i="0" u="none" strike="noStrik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pPr>
                <a:endParaRPr lang="fr-FR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dk1">
                          <a:lumMod val="50000"/>
                          <a:lumOff val="50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Chart!$A$2:$A$5</c:f>
              <c:strCache>
                <c:ptCount val="4"/>
                <c:pt idx="0">
                  <c:v>Product A</c:v>
                </c:pt>
                <c:pt idx="1">
                  <c:v>Product B</c:v>
                </c:pt>
                <c:pt idx="2">
                  <c:v>Product C</c:v>
                </c:pt>
                <c:pt idx="3">
                  <c:v>Product D</c:v>
                </c:pt>
              </c:strCache>
            </c:strRef>
          </c:cat>
          <c:val>
            <c:numRef>
              <c:f>Chart!$B$2:$B$5</c:f>
              <c:numCache>
                <c:formatCode>General</c:formatCode>
                <c:ptCount val="4"/>
                <c:pt idx="0">
                  <c:v>100000</c:v>
                </c:pt>
                <c:pt idx="1">
                  <c:v>100000</c:v>
                </c:pt>
                <c:pt idx="2">
                  <c:v>100000</c:v>
                </c:pt>
                <c:pt idx="3">
                  <c:v>100000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6E1-4FC8-AD5A-D4FFB6106C76}"/>
            </c:ext>
          </c:extLst>
        </c:ser>
        <c:dLbls>
          <c:dLblPos val="inEnd"/>
          <c:showLegendKey val="0"/>
          <c:showVal val="1"/>
          <c:showCatName val="0"/>
          <c:showSerName val="0"/>
          <c:showPercent val="0"/>
          <c:showBubbleSize val="0"/>
        </c:dLbls>
        <c:gapWidth val="41"/>
        <c:axId val="1001796815"/>
        <c:axId val="1001803055"/>
      </c:barChart>
      <c:catAx>
        <c:axId val="1001796815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dk1">
                    <a:lumMod val="65000"/>
                    <a:lumOff val="35000"/>
                  </a:schemeClr>
                </a:solidFill>
                <a:effectLst/>
                <a:latin typeface="+mn-lt"/>
                <a:ea typeface="+mn-ea"/>
                <a:cs typeface="+mn-cs"/>
              </a:defRPr>
            </a:pPr>
            <a:endParaRPr lang="fr-FR"/>
          </a:p>
        </c:txPr>
        <c:crossAx val="1001803055"/>
        <c:crosses val="autoZero"/>
        <c:auto val="1"/>
        <c:lblAlgn val="ctr"/>
        <c:lblOffset val="100"/>
        <c:noMultiLvlLbl val="0"/>
      </c:catAx>
      <c:valAx>
        <c:axId val="1001803055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1001796815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gradFill flip="none" rotWithShape="1">
      <a:gsLst>
        <a:gs pos="0">
          <a:schemeClr val="lt1"/>
        </a:gs>
        <a:gs pos="68000">
          <a:schemeClr val="lt1">
            <a:lumMod val="85000"/>
          </a:schemeClr>
        </a:gs>
        <a:gs pos="100000">
          <a:schemeClr val="lt1"/>
        </a:gs>
      </a:gsLst>
      <a:lin ang="5400000" scaled="1"/>
      <a:tileRect/>
    </a:gradFill>
    <a:ln w="9525" cap="flat" cmpd="sng" algn="ctr">
      <a:solidFill>
        <a:schemeClr val="dk1">
          <a:lumMod val="15000"/>
          <a:lumOff val="85000"/>
        </a:schemeClr>
      </a:solidFill>
      <a:round/>
    </a:ln>
    <a:effectLst/>
  </c:spPr>
  <c:txPr>
    <a:bodyPr/>
    <a:lstStyle/>
    <a:p>
      <a:pPr>
        <a:defRPr/>
      </a:pPr>
      <a:endParaRPr lang="fr-FR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4">
  <cs:axisTitle>
    <cs:lnRef idx="0"/>
    <cs:fillRef idx="0"/>
    <cs:effectRef idx="0"/>
    <cs:fontRef idx="minor">
      <a:schemeClr val="dk1">
        <a:lumMod val="65000"/>
        <a:lumOff val="35000"/>
      </a:schemeClr>
    </cs:fontRef>
    <cs:defRPr sz="900" b="1" kern="1200"/>
  </cs:axisTitle>
  <cs:categoryAxis>
    <cs:lnRef idx="0"/>
    <cs:fillRef idx="0"/>
    <cs:effectRef idx="0"/>
    <cs:fontRef idx="minor">
      <a:schemeClr val="dk1">
        <a:lumMod val="65000"/>
        <a:lumOff val="35000"/>
      </a:schemeClr>
    </cs:fontRef>
    <cs:defRPr sz="900" kern="1200">
      <a:effectLst/>
    </cs:defRPr>
  </cs:categoryAxis>
  <cs:chartArea>
    <cs:lnRef idx="0"/>
    <cs:fillRef idx="0"/>
    <cs:effectRef idx="0"/>
    <cs:fontRef idx="minor">
      <a:schemeClr val="dk1"/>
    </cs:fontRef>
    <cs:spPr>
      <a:gradFill flip="none" rotWithShape="1">
        <a:gsLst>
          <a:gs pos="0">
            <a:schemeClr val="lt1"/>
          </a:gs>
          <a:gs pos="68000">
            <a:schemeClr val="lt1">
              <a:lumMod val="85000"/>
            </a:schemeClr>
          </a:gs>
          <a:gs pos="100000">
            <a:schemeClr val="lt1"/>
          </a:gs>
        </a:gsLst>
        <a:lin ang="5400000" scaled="1"/>
        <a:tileRect/>
      </a:gradFill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lt1"/>
    </cs:fontRef>
    <cs:spPr/>
    <cs:defRPr sz="1000" b="1" i="0" u="none" strike="noStrike" kern="1200" baseline="0"/>
  </cs:dataLabel>
  <cs:dataLabelCallout>
    <cs:lnRef idx="0"/>
    <cs:fillRef idx="0"/>
    <cs:effectRef idx="0"/>
    <cs:fontRef idx="minor">
      <a:schemeClr val="lt1"/>
    </cs:fontRef>
    <cs:spPr>
      <a:solidFill>
        <a:schemeClr val="dk1">
          <a:lumMod val="65000"/>
          <a:lumOff val="35000"/>
          <a:alpha val="75000"/>
        </a:schemeClr>
      </a:solidFill>
    </cs:spPr>
    <cs:defRPr sz="1000" b="1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>
      <cs:styleClr val="auto"/>
    </cs:lnRef>
    <cs:fillRef idx="0">
      <cs:styleClr val="auto"/>
    </cs:fillRef>
    <cs:effectRef idx="0"/>
    <cs:fontRef idx="minor">
      <a:schemeClr val="dk1"/>
    </cs:fontRef>
    <cs:spPr>
      <a:gradFill>
        <a:gsLst>
          <a:gs pos="0">
            <a:schemeClr val="phClr"/>
          </a:gs>
          <a:gs pos="100000">
            <a:schemeClr val="phClr">
              <a:lumMod val="84000"/>
            </a:schemeClr>
          </a:gs>
        </a:gsLst>
        <a:lin ang="5400000" scaled="1"/>
      </a:gradFill>
      <a:effectLst>
        <a:outerShdw blurRad="76200" dir="18900000" sy="23000" kx="-1200000" algn="bl" rotWithShape="0">
          <a:prstClr val="black">
            <a:alpha val="20000"/>
          </a:prstClr>
        </a:outerShdw>
      </a:effectLst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gradFill>
        <a:gsLst>
          <a:gs pos="0">
            <a:schemeClr val="phClr"/>
          </a:gs>
          <a:gs pos="100000">
            <a:schemeClr val="phClr">
              <a:lumMod val="84000"/>
            </a:schemeClr>
          </a:gs>
        </a:gsLst>
        <a:lin ang="5400000" scaled="1"/>
      </a:gradFill>
      <a:effectLst>
        <a:outerShdw blurRad="76200" dir="18900000" sy="23000" kx="-1200000" algn="bl" rotWithShape="0">
          <a:prstClr val="black">
            <a:alpha val="20000"/>
          </a:prstClr>
        </a:outerShdw>
      </a:effectLst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28575" cap="rnd">
        <a:gradFill>
          <a:gsLst>
            <a:gs pos="0">
              <a:schemeClr val="phClr"/>
            </a:gs>
            <a:gs pos="100000">
              <a:schemeClr val="phClr">
                <a:lumMod val="84000"/>
              </a:schemeClr>
            </a:gs>
          </a:gsLst>
          <a:lin ang="5400000" scaled="1"/>
        </a:gra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dk1"/>
    </cs:fontRef>
    <cs:spPr>
      <a:gradFill>
        <a:gsLst>
          <a:gs pos="0">
            <a:schemeClr val="phClr"/>
          </a:gs>
          <a:gs pos="100000">
            <a:schemeClr val="phClr">
              <a:lumMod val="84000"/>
            </a:schemeClr>
          </a:gs>
        </a:gsLst>
        <a:lin ang="5400000" scaled="1"/>
      </a:gradFill>
      <a:effectLst>
        <a:outerShdw blurRad="76200" dir="18900000" sy="23000" kx="-1200000" algn="bl" rotWithShape="0">
          <a:prstClr val="black">
            <a:alpha val="20000"/>
          </a:prstClr>
        </a:outerShdw>
      </a:effectLst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dk1">
        <a:lumMod val="65000"/>
        <a:lumOff val="35000"/>
      </a:schemeClr>
    </cs:fontRef>
    <cs:spPr>
      <a:ln w="9525">
        <a:solidFill>
          <a:schemeClr val="dk1">
            <a:lumMod val="15000"/>
            <a:lumOff val="85000"/>
          </a:schemeClr>
        </a:solidFill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35000"/>
          <a:lumOff val="65000"/>
        </a:schemeClr>
      </a:solidFill>
      <a:ln w="9525">
        <a:solidFill>
          <a:schemeClr val="dk1">
            <a:lumMod val="50000"/>
            <a:lumOff val="50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  <a:round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dk1"/>
    </cs:fontRef>
    <cs:spPr>
      <a:ln>
        <a:solidFill>
          <a:schemeClr val="dk1">
            <a:lumMod val="5000"/>
            <a:lumOff val="95000"/>
          </a:schemeClr>
        </a:soli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</a:ln>
    </cs:spPr>
  </cs:leaderLine>
  <cs:legend>
    <cs:lnRef idx="0"/>
    <cs:fillRef idx="0"/>
    <cs:effectRef idx="0"/>
    <cs:fontRef idx="minor">
      <a:schemeClr val="dk1">
        <a:lumMod val="65000"/>
        <a:lumOff val="35000"/>
      </a:schemeClr>
    </cs:fontRef>
    <cs:defRPr sz="900" kern="1200"/>
  </cs:legend>
  <cs:plotArea>
    <cs:lnRef idx="0"/>
    <cs:fillRef idx="0"/>
    <cs:effectRef idx="0"/>
    <cs:fontRef idx="minor">
      <a:schemeClr val="dk1"/>
    </cs:fontRef>
  </cs:plotArea>
  <cs:plotArea3D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dk1">
        <a:lumMod val="65000"/>
        <a:lumOff val="35000"/>
      </a:schemeClr>
    </cs:fontRef>
    <cs:spPr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  <a:round/>
      </a:ln>
    </cs:spPr>
  </cs:seriesLine>
  <cs:title>
    <cs:lnRef idx="0"/>
    <cs:fillRef idx="0"/>
    <cs:effectRef idx="0"/>
    <cs:fontRef idx="minor">
      <a:schemeClr val="dk1">
        <a:lumMod val="65000"/>
        <a:lumOff val="35000"/>
      </a:schemeClr>
    </cs:fontRef>
    <cs:defRPr kern="1200">
      <a:effectLst/>
    </cs:defRPr>
  </cs:title>
  <cs:trendline>
    <cs:lnRef idx="0">
      <cs:styleClr val="auto"/>
    </cs:lnRef>
    <cs:fillRef idx="0"/>
    <cs:effectRef idx="0"/>
    <cs:fontRef idx="minor">
      <a:schemeClr val="dk1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dk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>
          <a:lumMod val="95000"/>
        </a:schemeClr>
      </a:solidFill>
      <a:ln w="9525">
        <a:solidFill>
          <a:schemeClr val="dk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dk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dk1"/>
    </cs:fontRef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568CFBC-9403-47F7-BDB1-615BBE0E64EF}" type="datetimeFigureOut">
              <a:rPr lang="fr-FR" smtClean="0"/>
              <a:t>25/06/2026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7953230-7C5F-45A7-B966-85CDD7F6B53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77666382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7953230-7C5F-45A7-B966-85CDD7F6B53F}" type="slidenum">
              <a:rPr lang="fr-FR" smtClean="0"/>
              <a:t>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5177366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FAB3797-F43C-B9A0-90CD-800A89B81F9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B6F28213-623D-021F-7006-D9C000CABBA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230F628F-887B-AE39-C121-DADBE13B03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FDEF33-D240-4646-A43F-2AAEE851BDEE}" type="datetimeFigureOut">
              <a:rPr lang="fr-FR" smtClean="0"/>
              <a:t>25/06/2026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70BC7B6F-2547-D46F-9CA3-DDADCACC6D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E14CA734-06EA-3E60-E90B-1165867A2D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0DFF50-2DAF-4BFD-9377-17B46B29E68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3121458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CF98EB9-B9EC-B883-A29F-6B2CF3C022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193F3414-AE5B-EBDF-4D57-0000519B6BC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7693F354-20F7-95A6-6EDF-A8F2103900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FDEF33-D240-4646-A43F-2AAEE851BDEE}" type="datetimeFigureOut">
              <a:rPr lang="fr-FR" smtClean="0"/>
              <a:t>25/06/2026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63B1936B-2F9A-7A11-2D10-D31785B840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0AD21B95-3ABB-5A23-C08B-7B7A898699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0DFF50-2DAF-4BFD-9377-17B46B29E68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204032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6F13A7B-2615-424C-1711-93F8CEB9B1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8596EE48-02CB-5141-AEF6-E168115B23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E5D62201-8CC0-561A-F4B7-1DE8CA116E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FDEF33-D240-4646-A43F-2AAEE851BDEE}" type="datetimeFigureOut">
              <a:rPr lang="fr-FR" smtClean="0"/>
              <a:t>25/06/2026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1BDC3FD5-371D-FE52-D310-63D539BE30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6AED738F-13C7-5811-B22D-7D98F8C537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0DFF50-2DAF-4BFD-9377-17B46B29E68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716485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3ED2CCE-AF0D-182C-4707-B497F15F77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7A47A183-7750-0961-039F-80C8BCEC81A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C7630CF4-CF9B-6B6F-3B9E-34DB450DDAF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EC470D94-8873-5F1E-6173-79194BA797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FDEF33-D240-4646-A43F-2AAEE851BDEE}" type="datetimeFigureOut">
              <a:rPr lang="fr-FR" smtClean="0"/>
              <a:t>25/06/2026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E7CA895F-4868-88C7-CD79-A112F154C4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345499F1-2D99-C54F-7A26-3A87AC4AC4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0DFF50-2DAF-4BFD-9377-17B46B29E68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2453274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9C860FA-50D8-94D6-379B-F19E098180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BFB66CC5-1DC7-A8C1-B355-F13B46C3AD6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2A606025-FFBD-19E6-978E-387DC4C9C07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C05F9E3D-15A1-02F2-6FE4-926D898D55B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8E5CF89B-A5BC-F421-C4BF-9CC71B6A610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7AE82F26-CFA9-F951-E925-C9C1C90719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FDEF33-D240-4646-A43F-2AAEE851BDEE}" type="datetimeFigureOut">
              <a:rPr lang="fr-FR" smtClean="0"/>
              <a:t>25/06/2026</a:t>
            </a:fld>
            <a:endParaRPr lang="fr-FR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98B24803-3C0E-270D-4EB7-D28C249ED9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DE3A350B-222F-2FFB-9039-73885F4F03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0DFF50-2DAF-4BFD-9377-17B46B29E68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2956102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2C729B6-ED01-CD41-B5F6-54797EC21B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786FFDAA-BF47-B98D-3050-FA629ABFAE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FDEF33-D240-4646-A43F-2AAEE851BDEE}" type="datetimeFigureOut">
              <a:rPr lang="fr-FR" smtClean="0"/>
              <a:t>25/06/2026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D7E16898-BE8B-0DDB-94DE-8990949A56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3C4FC08C-FE73-B3D9-21FF-4499F101DE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0DFF50-2DAF-4BFD-9377-17B46B29E68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194231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83B8C5F0-2C8C-3309-74C0-8878D064EB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FDEF33-D240-4646-A43F-2AAEE851BDEE}" type="datetimeFigureOut">
              <a:rPr lang="fr-FR" smtClean="0"/>
              <a:t>25/06/2026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FD480824-1384-C0A4-6590-35CF1E4A26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DA2C6E80-77B5-29CC-D4D5-9677E815F6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0DFF50-2DAF-4BFD-9377-17B46B29E68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2532111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C07FEDA-B5DF-ED74-EE72-B529CB9025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1D1F93B6-D733-6FCF-66EA-0EA2F6B6CE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0F4E3C41-5EF4-C8CF-6DE7-DA30244E5A2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A372F9C4-C5E7-2CB4-500E-818B46650D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FDEF33-D240-4646-A43F-2AAEE851BDEE}" type="datetimeFigureOut">
              <a:rPr lang="fr-FR" smtClean="0"/>
              <a:t>25/06/2026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546D9A61-9393-C63E-8BC2-4149131808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072CD931-B310-5D16-A4E6-3FA2DE4C4D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0DFF50-2DAF-4BFD-9377-17B46B29E68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029446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4A27F79-18FB-404A-7216-8E637A627F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468AF791-E7F1-92A5-1C47-18C817D10D0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2C01605C-41E6-3868-A5C6-C4B7DB985D0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0F98DC5C-FF88-5073-F5F6-D0EF3C616F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FDEF33-D240-4646-A43F-2AAEE851BDEE}" type="datetimeFigureOut">
              <a:rPr lang="fr-FR" smtClean="0"/>
              <a:t>25/06/2026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11CC98DA-5DC1-C9AB-F973-0F43ED97EA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34DB5FC3-D805-4621-A7B7-97378B73A0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0DFF50-2DAF-4BFD-9377-17B46B29E68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3564968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0C54942-61EA-E19A-3F24-0457FCC8FB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44D45FDC-70CD-7A2B-E813-11A89EE1F4C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00F2A878-34CD-F06B-4C3A-32A71E4DEF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FDEF33-D240-4646-A43F-2AAEE851BDEE}" type="datetimeFigureOut">
              <a:rPr lang="fr-FR" smtClean="0"/>
              <a:t>25/06/2026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978ED7B9-BE85-520E-C5AD-D791658124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F34F2EA3-9E5E-3338-D075-096C323E95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0DFF50-2DAF-4BFD-9377-17B46B29E68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5929578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9AD78974-D2B5-0490-401D-CC3D9AD0924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D6D99574-E757-6AD6-BEAA-A438FDD1481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280DF099-6425-7078-273B-8CCFA197BB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FDEF33-D240-4646-A43F-2AAEE851BDEE}" type="datetimeFigureOut">
              <a:rPr lang="fr-FR" smtClean="0"/>
              <a:t>25/06/2026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B29324A8-0293-4F22-175C-BC73743AA6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60EAE634-7A31-EEAA-A5F9-236272D32F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0DFF50-2DAF-4BFD-9377-17B46B29E68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092013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D54E2BEB-512C-10BE-F967-3C171142DF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BB2C2691-F75B-E792-4007-870393F52A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3128AE15-E976-9E44-45C7-2679F285C28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5FDEF33-D240-4646-A43F-2AAEE851BDEE}" type="datetimeFigureOut">
              <a:rPr lang="fr-FR" smtClean="0"/>
              <a:t>25/06/2026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98574D5E-19BF-B8E4-0E15-8E8EBD771C4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F4BA381C-EB3F-24AD-460D-9F5AACF0303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F0DFF50-2DAF-4BFD-9377-17B46B29E68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9588631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KPI_Snapsho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>
            <a:extLst>
              <a:ext uri="{FF2B5EF4-FFF2-40B4-BE49-F238E27FC236}">
                <a16:creationId xmlns:a16="http://schemas.microsoft.com/office/drawing/2014/main" id="{AF98A7E9-DF4A-06ED-076E-2947F81D428A}"/>
              </a:ext>
            </a:extLst>
          </p:cNvPr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F3864"/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" name="HeaderBand">
            <a:extLst>
              <a:ext uri="{FF2B5EF4-FFF2-40B4-BE49-F238E27FC236}">
                <a16:creationId xmlns:a16="http://schemas.microsoft.com/office/drawing/2014/main" id="{B409C656-7F20-7682-7780-9AF781C41996}"/>
              </a:ext>
            </a:extLst>
          </p:cNvPr>
          <p:cNvSpPr/>
          <p:nvPr/>
        </p:nvSpPr>
        <p:spPr>
          <a:xfrm>
            <a:off x="0" y="0"/>
            <a:ext cx="9144000" cy="1143000"/>
          </a:xfrm>
          <a:prstGeom prst="rect">
            <a:avLst/>
          </a:prstGeom>
          <a:solidFill>
            <a:srgbClr val="2E75B6"/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" name="SlideTitle">
            <a:extLst>
              <a:ext uri="{FF2B5EF4-FFF2-40B4-BE49-F238E27FC236}">
                <a16:creationId xmlns:a16="http://schemas.microsoft.com/office/drawing/2014/main" id="{81C0E9A3-6D99-6DB1-C99D-7A3794EA217D}"/>
              </a:ext>
            </a:extLst>
          </p:cNvPr>
          <p:cNvSpPr txBox="1"/>
          <p:nvPr/>
        </p:nvSpPr>
        <p:spPr>
          <a:xfrm>
            <a:off x="254000" y="152400"/>
            <a:ext cx="8636000" cy="49244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fr-FR" sz="2600" b="1">
                <a:solidFill>
                  <a:srgbClr val="FFFFFF"/>
                </a:solidFill>
              </a:rPr>
              <a:t>Monthly Sales Overview - {Month}</a:t>
            </a:r>
          </a:p>
        </p:txBody>
      </p:sp>
      <p:sp>
        <p:nvSpPr>
          <p:cNvPr id="5" name="SubTitle">
            <a:extLst>
              <a:ext uri="{FF2B5EF4-FFF2-40B4-BE49-F238E27FC236}">
                <a16:creationId xmlns:a16="http://schemas.microsoft.com/office/drawing/2014/main" id="{1A65F9F1-1C6A-716D-80B8-20E7EBFDD6C6}"/>
              </a:ext>
            </a:extLst>
          </p:cNvPr>
          <p:cNvSpPr txBox="1"/>
          <p:nvPr/>
        </p:nvSpPr>
        <p:spPr>
          <a:xfrm>
            <a:off x="254000" y="762000"/>
            <a:ext cx="86360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1000">
                <a:solidFill>
                  <a:srgbClr val="C8DCFF"/>
                </a:solidFill>
              </a:rPr>
              <a:t>Executive KPI Snapshot  |  Automated Report</a:t>
            </a:r>
            <a:endParaRPr lang="fr-FR" sz="1000">
              <a:solidFill>
                <a:srgbClr val="C8DCFF"/>
              </a:solidFill>
            </a:endParaRPr>
          </a:p>
        </p:txBody>
      </p:sp>
      <p:sp>
        <p:nvSpPr>
          <p:cNvPr id="6" name="SectionLabel">
            <a:extLst>
              <a:ext uri="{FF2B5EF4-FFF2-40B4-BE49-F238E27FC236}">
                <a16:creationId xmlns:a16="http://schemas.microsoft.com/office/drawing/2014/main" id="{2493EA68-3B21-29C2-61AD-B9DA7EFB6BFF}"/>
              </a:ext>
            </a:extLst>
          </p:cNvPr>
          <p:cNvSpPr txBox="1"/>
          <p:nvPr/>
        </p:nvSpPr>
        <p:spPr>
          <a:xfrm>
            <a:off x="508000" y="1270000"/>
            <a:ext cx="50800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fr-FR" sz="1000" b="1">
                <a:solidFill>
                  <a:srgbClr val="A4C4F0"/>
                </a:solidFill>
              </a:rPr>
              <a:t>KEY PERFORMANCE INDICATORS</a:t>
            </a:r>
          </a:p>
        </p:txBody>
      </p:sp>
      <p:sp>
        <p:nvSpPr>
          <p:cNvPr id="7" name="KPI_TotalRevenue_Box">
            <a:extLst>
              <a:ext uri="{FF2B5EF4-FFF2-40B4-BE49-F238E27FC236}">
                <a16:creationId xmlns:a16="http://schemas.microsoft.com/office/drawing/2014/main" id="{98653B19-9C69-91E4-BE02-08AF383AEA89}"/>
              </a:ext>
            </a:extLst>
          </p:cNvPr>
          <p:cNvSpPr/>
          <p:nvPr/>
        </p:nvSpPr>
        <p:spPr>
          <a:xfrm>
            <a:off x="508000" y="1714500"/>
            <a:ext cx="3683000" cy="1968500"/>
          </a:xfrm>
          <a:prstGeom prst="rect">
            <a:avLst/>
          </a:prstGeom>
          <a:solidFill>
            <a:srgbClr val="FFFFFF">
              <a:alpha val="93000"/>
            </a:srgbClr>
          </a:solidFill>
          <a:ln w="19050">
            <a:solidFill>
              <a:srgbClr val="2E75B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8" name="KPI_TotalRevenue_Accent">
            <a:extLst>
              <a:ext uri="{FF2B5EF4-FFF2-40B4-BE49-F238E27FC236}">
                <a16:creationId xmlns:a16="http://schemas.microsoft.com/office/drawing/2014/main" id="{E77F0805-1F79-0E10-6AEC-B3F4842F1B24}"/>
              </a:ext>
            </a:extLst>
          </p:cNvPr>
          <p:cNvSpPr/>
          <p:nvPr/>
        </p:nvSpPr>
        <p:spPr>
          <a:xfrm>
            <a:off x="508000" y="1714500"/>
            <a:ext cx="3683000" cy="76200"/>
          </a:xfrm>
          <a:prstGeom prst="rect">
            <a:avLst/>
          </a:prstGeom>
          <a:solidFill>
            <a:srgbClr val="2E75B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9" name="KPI_TotalRevenue_Label">
            <a:extLst>
              <a:ext uri="{FF2B5EF4-FFF2-40B4-BE49-F238E27FC236}">
                <a16:creationId xmlns:a16="http://schemas.microsoft.com/office/drawing/2014/main" id="{DA3D3517-26E0-5F2C-6F4D-DAC134C3FC8B}"/>
              </a:ext>
            </a:extLst>
          </p:cNvPr>
          <p:cNvSpPr txBox="1"/>
          <p:nvPr/>
        </p:nvSpPr>
        <p:spPr>
          <a:xfrm>
            <a:off x="635000" y="1866900"/>
            <a:ext cx="3429000" cy="2308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fr-FR" sz="900" b="1">
                <a:solidFill>
                  <a:srgbClr val="A6A6A6"/>
                </a:solidFill>
              </a:rPr>
              <a:t>TOTAL REVENUE</a:t>
            </a:r>
          </a:p>
        </p:txBody>
      </p:sp>
      <p:sp>
        <p:nvSpPr>
          <p:cNvPr id="10" name="KPI_TotalRevenue_Value">
            <a:extLst>
              <a:ext uri="{FF2B5EF4-FFF2-40B4-BE49-F238E27FC236}">
                <a16:creationId xmlns:a16="http://schemas.microsoft.com/office/drawing/2014/main" id="{90EF35FD-B81F-867B-037A-B465E37CE0FF}"/>
              </a:ext>
            </a:extLst>
          </p:cNvPr>
          <p:cNvSpPr txBox="1"/>
          <p:nvPr/>
        </p:nvSpPr>
        <p:spPr>
          <a:xfrm>
            <a:off x="635000" y="2197100"/>
            <a:ext cx="3429000" cy="55399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fr-FR" sz="3000" b="1">
                <a:solidFill>
                  <a:srgbClr val="1F3864"/>
                </a:solidFill>
              </a:rPr>
              <a:t>0</a:t>
            </a:r>
          </a:p>
        </p:txBody>
      </p:sp>
      <p:sp>
        <p:nvSpPr>
          <p:cNvPr id="11" name="KPI_Achievement_Box">
            <a:extLst>
              <a:ext uri="{FF2B5EF4-FFF2-40B4-BE49-F238E27FC236}">
                <a16:creationId xmlns:a16="http://schemas.microsoft.com/office/drawing/2014/main" id="{5F25C791-15BF-6946-9C37-5C68AF197806}"/>
              </a:ext>
            </a:extLst>
          </p:cNvPr>
          <p:cNvSpPr/>
          <p:nvPr/>
        </p:nvSpPr>
        <p:spPr>
          <a:xfrm>
            <a:off x="4572000" y="1714500"/>
            <a:ext cx="3683000" cy="1968500"/>
          </a:xfrm>
          <a:prstGeom prst="rect">
            <a:avLst/>
          </a:prstGeom>
          <a:solidFill>
            <a:srgbClr val="FFFFFF">
              <a:alpha val="93000"/>
            </a:srgbClr>
          </a:solidFill>
          <a:ln w="19050">
            <a:solidFill>
              <a:srgbClr val="2E75B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2" name="KPI_Achievement_Accent">
            <a:extLst>
              <a:ext uri="{FF2B5EF4-FFF2-40B4-BE49-F238E27FC236}">
                <a16:creationId xmlns:a16="http://schemas.microsoft.com/office/drawing/2014/main" id="{11554852-5EAF-41E6-3AB3-61D0F99161E9}"/>
              </a:ext>
            </a:extLst>
          </p:cNvPr>
          <p:cNvSpPr/>
          <p:nvPr/>
        </p:nvSpPr>
        <p:spPr>
          <a:xfrm>
            <a:off x="4572000" y="1714500"/>
            <a:ext cx="3683000" cy="76200"/>
          </a:xfrm>
          <a:prstGeom prst="rect">
            <a:avLst/>
          </a:prstGeom>
          <a:solidFill>
            <a:srgbClr val="2E75B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3" name="KPI_Achievement_Label">
            <a:extLst>
              <a:ext uri="{FF2B5EF4-FFF2-40B4-BE49-F238E27FC236}">
                <a16:creationId xmlns:a16="http://schemas.microsoft.com/office/drawing/2014/main" id="{D3C1DAA8-381F-DFE6-91EE-3C7F32B4AD14}"/>
              </a:ext>
            </a:extLst>
          </p:cNvPr>
          <p:cNvSpPr txBox="1"/>
          <p:nvPr/>
        </p:nvSpPr>
        <p:spPr>
          <a:xfrm>
            <a:off x="4699000" y="1866900"/>
            <a:ext cx="3429000" cy="2308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fr-FR" sz="900" b="1">
                <a:solidFill>
                  <a:srgbClr val="A6A6A6"/>
                </a:solidFill>
              </a:rPr>
              <a:t>ACHIEVEMENT %</a:t>
            </a:r>
          </a:p>
        </p:txBody>
      </p:sp>
      <p:sp>
        <p:nvSpPr>
          <p:cNvPr id="14" name="KPI_Achievement_Value">
            <a:extLst>
              <a:ext uri="{FF2B5EF4-FFF2-40B4-BE49-F238E27FC236}">
                <a16:creationId xmlns:a16="http://schemas.microsoft.com/office/drawing/2014/main" id="{094A9609-2D21-E694-1DF0-4F4DE10259A6}"/>
              </a:ext>
            </a:extLst>
          </p:cNvPr>
          <p:cNvSpPr txBox="1"/>
          <p:nvPr/>
        </p:nvSpPr>
        <p:spPr>
          <a:xfrm>
            <a:off x="4699000" y="2197100"/>
            <a:ext cx="3429000" cy="55399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fr-FR" sz="3000" b="1">
                <a:solidFill>
                  <a:srgbClr val="1F3864"/>
                </a:solidFill>
              </a:rPr>
              <a:t>0%</a:t>
            </a:r>
          </a:p>
        </p:txBody>
      </p:sp>
      <p:sp>
        <p:nvSpPr>
          <p:cNvPr id="15" name="KPI_TopProduct_Box">
            <a:extLst>
              <a:ext uri="{FF2B5EF4-FFF2-40B4-BE49-F238E27FC236}">
                <a16:creationId xmlns:a16="http://schemas.microsoft.com/office/drawing/2014/main" id="{9881C35C-DE0A-57F4-CE0B-A98A5D1BA051}"/>
              </a:ext>
            </a:extLst>
          </p:cNvPr>
          <p:cNvSpPr/>
          <p:nvPr/>
        </p:nvSpPr>
        <p:spPr>
          <a:xfrm>
            <a:off x="508000" y="3937000"/>
            <a:ext cx="3683000" cy="1968500"/>
          </a:xfrm>
          <a:prstGeom prst="rect">
            <a:avLst/>
          </a:prstGeom>
          <a:solidFill>
            <a:srgbClr val="FFFFFF">
              <a:alpha val="93000"/>
            </a:srgbClr>
          </a:solidFill>
          <a:ln w="19050">
            <a:solidFill>
              <a:srgbClr val="2E75B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6" name="KPI_TopProduct_Accent">
            <a:extLst>
              <a:ext uri="{FF2B5EF4-FFF2-40B4-BE49-F238E27FC236}">
                <a16:creationId xmlns:a16="http://schemas.microsoft.com/office/drawing/2014/main" id="{B0D00031-5802-8F85-EEAC-81A7FB48AA59}"/>
              </a:ext>
            </a:extLst>
          </p:cNvPr>
          <p:cNvSpPr/>
          <p:nvPr/>
        </p:nvSpPr>
        <p:spPr>
          <a:xfrm>
            <a:off x="508000" y="3937000"/>
            <a:ext cx="3683000" cy="76200"/>
          </a:xfrm>
          <a:prstGeom prst="rect">
            <a:avLst/>
          </a:prstGeom>
          <a:solidFill>
            <a:srgbClr val="2E75B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7" name="KPI_TopProduct_Label">
            <a:extLst>
              <a:ext uri="{FF2B5EF4-FFF2-40B4-BE49-F238E27FC236}">
                <a16:creationId xmlns:a16="http://schemas.microsoft.com/office/drawing/2014/main" id="{DE38D44E-5BC2-562A-4352-70E1345DAD50}"/>
              </a:ext>
            </a:extLst>
          </p:cNvPr>
          <p:cNvSpPr txBox="1"/>
          <p:nvPr/>
        </p:nvSpPr>
        <p:spPr>
          <a:xfrm>
            <a:off x="635000" y="4089400"/>
            <a:ext cx="3429000" cy="2308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fr-FR" sz="900" b="1">
                <a:solidFill>
                  <a:srgbClr val="A6A6A6"/>
                </a:solidFill>
              </a:rPr>
              <a:t>TOP PRODUCT</a:t>
            </a:r>
          </a:p>
        </p:txBody>
      </p:sp>
      <p:sp>
        <p:nvSpPr>
          <p:cNvPr id="18" name="KPI_TopProduct_Value">
            <a:extLst>
              <a:ext uri="{FF2B5EF4-FFF2-40B4-BE49-F238E27FC236}">
                <a16:creationId xmlns:a16="http://schemas.microsoft.com/office/drawing/2014/main" id="{77C620D4-194A-6E6A-1BE4-0CF0B8903B1E}"/>
              </a:ext>
            </a:extLst>
          </p:cNvPr>
          <p:cNvSpPr txBox="1"/>
          <p:nvPr/>
        </p:nvSpPr>
        <p:spPr>
          <a:xfrm>
            <a:off x="635000" y="4419600"/>
            <a:ext cx="3429000" cy="55399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fr-FR" sz="3000" b="1">
                <a:solidFill>
                  <a:srgbClr val="1F3864"/>
                </a:solidFill>
              </a:rPr>
              <a:t>---</a:t>
            </a:r>
          </a:p>
        </p:txBody>
      </p:sp>
      <p:sp>
        <p:nvSpPr>
          <p:cNvPr id="19" name="KPI_WorstRegion_Box">
            <a:extLst>
              <a:ext uri="{FF2B5EF4-FFF2-40B4-BE49-F238E27FC236}">
                <a16:creationId xmlns:a16="http://schemas.microsoft.com/office/drawing/2014/main" id="{D164A6B4-987C-37DD-390D-CE81F01CFBD0}"/>
              </a:ext>
            </a:extLst>
          </p:cNvPr>
          <p:cNvSpPr/>
          <p:nvPr/>
        </p:nvSpPr>
        <p:spPr>
          <a:xfrm>
            <a:off x="4572000" y="3937000"/>
            <a:ext cx="3683000" cy="1968500"/>
          </a:xfrm>
          <a:prstGeom prst="rect">
            <a:avLst/>
          </a:prstGeom>
          <a:solidFill>
            <a:srgbClr val="FFFFFF">
              <a:alpha val="93000"/>
            </a:srgbClr>
          </a:solidFill>
          <a:ln w="19050">
            <a:solidFill>
              <a:srgbClr val="2E75B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0" name="KPI_WorstRegion_Accent">
            <a:extLst>
              <a:ext uri="{FF2B5EF4-FFF2-40B4-BE49-F238E27FC236}">
                <a16:creationId xmlns:a16="http://schemas.microsoft.com/office/drawing/2014/main" id="{C21DA64F-1351-7B38-7A48-8EC3E9CB2CA6}"/>
              </a:ext>
            </a:extLst>
          </p:cNvPr>
          <p:cNvSpPr/>
          <p:nvPr/>
        </p:nvSpPr>
        <p:spPr>
          <a:xfrm>
            <a:off x="4572000" y="3937000"/>
            <a:ext cx="3683000" cy="76200"/>
          </a:xfrm>
          <a:prstGeom prst="rect">
            <a:avLst/>
          </a:prstGeom>
          <a:solidFill>
            <a:srgbClr val="2E75B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1" name="KPI_WorstRegion_Label">
            <a:extLst>
              <a:ext uri="{FF2B5EF4-FFF2-40B4-BE49-F238E27FC236}">
                <a16:creationId xmlns:a16="http://schemas.microsoft.com/office/drawing/2014/main" id="{82A08236-D381-8809-9F44-2F7AFA3BEA98}"/>
              </a:ext>
            </a:extLst>
          </p:cNvPr>
          <p:cNvSpPr txBox="1"/>
          <p:nvPr/>
        </p:nvSpPr>
        <p:spPr>
          <a:xfrm>
            <a:off x="4699000" y="4089400"/>
            <a:ext cx="3429000" cy="2308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fr-FR" sz="900" b="1">
                <a:solidFill>
                  <a:srgbClr val="A6A6A6"/>
                </a:solidFill>
              </a:rPr>
              <a:t>WORST REGION</a:t>
            </a:r>
          </a:p>
        </p:txBody>
      </p:sp>
      <p:sp>
        <p:nvSpPr>
          <p:cNvPr id="22" name="KPI_WorstRegion_Value">
            <a:extLst>
              <a:ext uri="{FF2B5EF4-FFF2-40B4-BE49-F238E27FC236}">
                <a16:creationId xmlns:a16="http://schemas.microsoft.com/office/drawing/2014/main" id="{A52F6952-FC8D-460D-55DA-6D89B21EE07A}"/>
              </a:ext>
            </a:extLst>
          </p:cNvPr>
          <p:cNvSpPr txBox="1"/>
          <p:nvPr/>
        </p:nvSpPr>
        <p:spPr>
          <a:xfrm>
            <a:off x="4699000" y="4419600"/>
            <a:ext cx="3429000" cy="55399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fr-FR" sz="3000" b="1">
                <a:solidFill>
                  <a:srgbClr val="1F3864"/>
                </a:solidFill>
              </a:rPr>
              <a:t>---</a:t>
            </a:r>
          </a:p>
        </p:txBody>
      </p:sp>
      <p:sp>
        <p:nvSpPr>
          <p:cNvPr id="23" name="Footer">
            <a:extLst>
              <a:ext uri="{FF2B5EF4-FFF2-40B4-BE49-F238E27FC236}">
                <a16:creationId xmlns:a16="http://schemas.microsoft.com/office/drawing/2014/main" id="{16AD615F-BC9C-C3D8-C0B4-8566E908383A}"/>
              </a:ext>
            </a:extLst>
          </p:cNvPr>
          <p:cNvSpPr/>
          <p:nvPr/>
        </p:nvSpPr>
        <p:spPr>
          <a:xfrm>
            <a:off x="0" y="6477000"/>
            <a:ext cx="9144000" cy="381000"/>
          </a:xfrm>
          <a:prstGeom prst="rect">
            <a:avLst/>
          </a:prstGeom>
          <a:solidFill>
            <a:srgbClr val="142850"/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4" name="ZoneTexte 23">
            <a:extLst>
              <a:ext uri="{FF2B5EF4-FFF2-40B4-BE49-F238E27FC236}">
                <a16:creationId xmlns:a16="http://schemas.microsoft.com/office/drawing/2014/main" id="{0AB2E5A2-73A3-EBDE-CE3F-E09AE6C08B7E}"/>
              </a:ext>
            </a:extLst>
          </p:cNvPr>
          <p:cNvSpPr txBox="1"/>
          <p:nvPr/>
        </p:nvSpPr>
        <p:spPr>
          <a:xfrm>
            <a:off x="254000" y="6527800"/>
            <a:ext cx="8636000" cy="2154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800" dirty="0">
                <a:solidFill>
                  <a:srgbClr val="96AAD2"/>
                </a:solidFill>
              </a:rPr>
              <a:t>CONFIDENTIAL  |  Auto-generated by UiPath KPI Bot </a:t>
            </a:r>
            <a:endParaRPr lang="fr-FR" sz="800" dirty="0">
              <a:solidFill>
                <a:srgbClr val="96AAD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2664347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erformance_Breakdow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>
            <a:extLst>
              <a:ext uri="{FF2B5EF4-FFF2-40B4-BE49-F238E27FC236}">
                <a16:creationId xmlns:a16="http://schemas.microsoft.com/office/drawing/2014/main" id="{C9CEE9EF-A455-E29A-DDA4-7AF735AA49DB}"/>
              </a:ext>
            </a:extLst>
          </p:cNvPr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F3864"/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" name="HeaderBand">
            <a:extLst>
              <a:ext uri="{FF2B5EF4-FFF2-40B4-BE49-F238E27FC236}">
                <a16:creationId xmlns:a16="http://schemas.microsoft.com/office/drawing/2014/main" id="{5B9ED3E8-9031-6779-832C-EC969E2EF824}"/>
              </a:ext>
            </a:extLst>
          </p:cNvPr>
          <p:cNvSpPr/>
          <p:nvPr/>
        </p:nvSpPr>
        <p:spPr>
          <a:xfrm>
            <a:off x="0" y="0"/>
            <a:ext cx="9144000" cy="1143000"/>
          </a:xfrm>
          <a:prstGeom prst="rect">
            <a:avLst/>
          </a:prstGeom>
          <a:solidFill>
            <a:srgbClr val="2E75B6"/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" name="SlideTitle">
            <a:extLst>
              <a:ext uri="{FF2B5EF4-FFF2-40B4-BE49-F238E27FC236}">
                <a16:creationId xmlns:a16="http://schemas.microsoft.com/office/drawing/2014/main" id="{A03F64CE-66E9-DCC1-2BF3-8D71786B7BE1}"/>
              </a:ext>
            </a:extLst>
          </p:cNvPr>
          <p:cNvSpPr txBox="1"/>
          <p:nvPr/>
        </p:nvSpPr>
        <p:spPr>
          <a:xfrm>
            <a:off x="254000" y="152400"/>
            <a:ext cx="8636000" cy="49244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fr-FR" sz="2600" b="1">
                <a:solidFill>
                  <a:srgbClr val="FFFFFF"/>
                </a:solidFill>
              </a:rPr>
              <a:t>Performance Breakdown - {Month}</a:t>
            </a: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7277BC2C-B76A-BD04-5F6D-452103F1AC22}"/>
              </a:ext>
            </a:extLst>
          </p:cNvPr>
          <p:cNvSpPr txBox="1"/>
          <p:nvPr/>
        </p:nvSpPr>
        <p:spPr>
          <a:xfrm>
            <a:off x="254000" y="762000"/>
            <a:ext cx="86360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1000">
                <a:solidFill>
                  <a:srgbClr val="C8DCFF"/>
                </a:solidFill>
              </a:rPr>
              <a:t>Revenue vs Target by Product  |  Key Insights</a:t>
            </a:r>
            <a:endParaRPr lang="fr-FR" sz="1000">
              <a:solidFill>
                <a:srgbClr val="C8DCFF"/>
              </a:solidFill>
            </a:endParaRPr>
          </a:p>
        </p:txBody>
      </p:sp>
      <p:sp>
        <p:nvSpPr>
          <p:cNvPr id="6" name="ChartSectionLabel">
            <a:extLst>
              <a:ext uri="{FF2B5EF4-FFF2-40B4-BE49-F238E27FC236}">
                <a16:creationId xmlns:a16="http://schemas.microsoft.com/office/drawing/2014/main" id="{F009C33F-92F8-1E7E-5F2C-979A91FF46C9}"/>
              </a:ext>
            </a:extLst>
          </p:cNvPr>
          <p:cNvSpPr txBox="1"/>
          <p:nvPr/>
        </p:nvSpPr>
        <p:spPr>
          <a:xfrm>
            <a:off x="381000" y="1270000"/>
            <a:ext cx="4953000" cy="2308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fr-FR" sz="900" b="1">
                <a:solidFill>
                  <a:srgbClr val="A4C4F0"/>
                </a:solidFill>
              </a:rPr>
              <a:t>REVENUE BY PRODUCT</a:t>
            </a:r>
          </a:p>
        </p:txBody>
      </p:sp>
      <p:sp>
        <p:nvSpPr>
          <p:cNvPr id="7" name="ChartPlaceholder">
            <a:extLst>
              <a:ext uri="{FF2B5EF4-FFF2-40B4-BE49-F238E27FC236}">
                <a16:creationId xmlns:a16="http://schemas.microsoft.com/office/drawing/2014/main" id="{4BB063A0-6A91-1B31-B5CB-5538432538AC}"/>
              </a:ext>
            </a:extLst>
          </p:cNvPr>
          <p:cNvSpPr/>
          <p:nvPr/>
        </p:nvSpPr>
        <p:spPr>
          <a:xfrm>
            <a:off x="381000" y="1549400"/>
            <a:ext cx="5080000" cy="4546600"/>
          </a:xfrm>
          <a:prstGeom prst="rect">
            <a:avLst/>
          </a:prstGeom>
          <a:solidFill>
            <a:srgbClr val="FFFFFF">
              <a:alpha val="95000"/>
            </a:srgbClr>
          </a:solidFill>
          <a:ln w="19050">
            <a:solidFill>
              <a:srgbClr val="2E75B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9" name="InsightSectionLabel">
            <a:extLst>
              <a:ext uri="{FF2B5EF4-FFF2-40B4-BE49-F238E27FC236}">
                <a16:creationId xmlns:a16="http://schemas.microsoft.com/office/drawing/2014/main" id="{35BC0722-B473-BD58-9AEE-E8B933FB4838}"/>
              </a:ext>
            </a:extLst>
          </p:cNvPr>
          <p:cNvSpPr txBox="1"/>
          <p:nvPr/>
        </p:nvSpPr>
        <p:spPr>
          <a:xfrm>
            <a:off x="5689600" y="1270000"/>
            <a:ext cx="3200400" cy="2308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fr-FR" sz="900" b="1">
                <a:solidFill>
                  <a:srgbClr val="A4C4F0"/>
                </a:solidFill>
              </a:rPr>
              <a:t>KEY INSIGHTS</a:t>
            </a:r>
          </a:p>
        </p:txBody>
      </p:sp>
      <p:sp>
        <p:nvSpPr>
          <p:cNvPr id="10" name="InsightBox_Background">
            <a:extLst>
              <a:ext uri="{FF2B5EF4-FFF2-40B4-BE49-F238E27FC236}">
                <a16:creationId xmlns:a16="http://schemas.microsoft.com/office/drawing/2014/main" id="{D704D174-1478-C885-0397-F01FCD34DD8C}"/>
              </a:ext>
            </a:extLst>
          </p:cNvPr>
          <p:cNvSpPr/>
          <p:nvPr/>
        </p:nvSpPr>
        <p:spPr>
          <a:xfrm>
            <a:off x="5689600" y="1549399"/>
            <a:ext cx="3200400" cy="4546599"/>
          </a:xfrm>
          <a:prstGeom prst="rect">
            <a:avLst/>
          </a:prstGeom>
          <a:solidFill>
            <a:srgbClr val="FFFFFF">
              <a:alpha val="95000"/>
            </a:srgbClr>
          </a:solidFill>
          <a:ln w="19050">
            <a:solidFill>
              <a:srgbClr val="2E75B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1" name="InsightBox">
            <a:extLst>
              <a:ext uri="{FF2B5EF4-FFF2-40B4-BE49-F238E27FC236}">
                <a16:creationId xmlns:a16="http://schemas.microsoft.com/office/drawing/2014/main" id="{EFB5AEA8-CD2C-A5F0-6C63-DDED6A179742}"/>
              </a:ext>
            </a:extLst>
          </p:cNvPr>
          <p:cNvSpPr txBox="1"/>
          <p:nvPr/>
        </p:nvSpPr>
        <p:spPr>
          <a:xfrm>
            <a:off x="5816600" y="1676400"/>
            <a:ext cx="2946400" cy="64633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200">
                <a:solidFill>
                  <a:srgbClr val="1F3864"/>
                </a:solidFill>
              </a:rPr>
              <a:t>Insight 1 goes here</a:t>
            </a:r>
          </a:p>
          <a:p>
            <a:r>
              <a:rPr lang="en-US" sz="1200">
                <a:solidFill>
                  <a:srgbClr val="1F3864"/>
                </a:solidFill>
              </a:rPr>
              <a:t>Insight 2 goes here</a:t>
            </a:r>
          </a:p>
          <a:p>
            <a:r>
              <a:rPr lang="en-US" sz="1200">
                <a:solidFill>
                  <a:srgbClr val="1F3864"/>
                </a:solidFill>
              </a:rPr>
              <a:t>Insight 3 goes here</a:t>
            </a:r>
            <a:endParaRPr lang="fr-FR" sz="1200">
              <a:solidFill>
                <a:srgbClr val="1F3864"/>
              </a:solidFill>
            </a:endParaRPr>
          </a:p>
        </p:txBody>
      </p:sp>
      <p:sp>
        <p:nvSpPr>
          <p:cNvPr id="21" name="Footer">
            <a:extLst>
              <a:ext uri="{FF2B5EF4-FFF2-40B4-BE49-F238E27FC236}">
                <a16:creationId xmlns:a16="http://schemas.microsoft.com/office/drawing/2014/main" id="{813452FD-575D-FB33-7F39-107042EBA527}"/>
              </a:ext>
            </a:extLst>
          </p:cNvPr>
          <p:cNvSpPr/>
          <p:nvPr/>
        </p:nvSpPr>
        <p:spPr>
          <a:xfrm>
            <a:off x="0" y="6477000"/>
            <a:ext cx="9144000" cy="381000"/>
          </a:xfrm>
          <a:prstGeom prst="rect">
            <a:avLst/>
          </a:prstGeom>
          <a:solidFill>
            <a:srgbClr val="142850"/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2" name="ZoneTexte 21">
            <a:extLst>
              <a:ext uri="{FF2B5EF4-FFF2-40B4-BE49-F238E27FC236}">
                <a16:creationId xmlns:a16="http://schemas.microsoft.com/office/drawing/2014/main" id="{CEBAA078-3FF1-3168-6DBB-33591768A946}"/>
              </a:ext>
            </a:extLst>
          </p:cNvPr>
          <p:cNvSpPr txBox="1"/>
          <p:nvPr/>
        </p:nvSpPr>
        <p:spPr>
          <a:xfrm>
            <a:off x="254000" y="6527800"/>
            <a:ext cx="8636000" cy="2154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800" dirty="0">
                <a:solidFill>
                  <a:srgbClr val="96AAD2"/>
                </a:solidFill>
              </a:rPr>
              <a:t>CONFIDENTIAL  |  Auto-generated by UiPath KPI Bot </a:t>
            </a:r>
            <a:endParaRPr lang="fr-FR" sz="800" dirty="0">
              <a:solidFill>
                <a:srgbClr val="96AAD2"/>
              </a:solidFill>
            </a:endParaRPr>
          </a:p>
        </p:txBody>
      </p:sp>
      <p:graphicFrame>
        <p:nvGraphicFramePr>
          <p:cNvPr id="8" name="BarChart_Revenue">
            <a:extLst>
              <a:ext uri="{FF2B5EF4-FFF2-40B4-BE49-F238E27FC236}">
                <a16:creationId xmlns:a16="http://schemas.microsoft.com/office/drawing/2014/main" id="{5424C782-AB7D-F2C9-9FBF-ADA49794484B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910285017"/>
              </p:ext>
            </p:extLst>
          </p:nvPr>
        </p:nvGraphicFramePr>
        <p:xfrm>
          <a:off x="381000" y="1549399"/>
          <a:ext cx="5080000" cy="454659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3715502560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</TotalTime>
  <Words>75</Words>
  <Application>Microsoft Office PowerPoint</Application>
  <PresentationFormat>Grand écran</PresentationFormat>
  <Paragraphs>21</Paragraphs>
  <Slides>2</Slides>
  <Notes>1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Thème Office</vt:lpstr>
      <vt:lpstr>Présentation PowerPoint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Mohamed Dhafer Hadj Amor</dc:creator>
  <cp:lastModifiedBy>Mohamed Dhafer Hadj Amor</cp:lastModifiedBy>
  <cp:revision>16</cp:revision>
  <dcterms:created xsi:type="dcterms:W3CDTF">2026-04-14T01:26:06Z</dcterms:created>
  <dcterms:modified xsi:type="dcterms:W3CDTF">2026-06-25T07:11:20Z</dcterms:modified>
</cp:coreProperties>
</file>